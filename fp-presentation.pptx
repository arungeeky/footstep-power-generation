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sldIdLst>
    <p:sldId id="256" r:id="rId2"/>
    <p:sldId id="284" r:id="rId3"/>
    <p:sldId id="258" r:id="rId4"/>
    <p:sldId id="259" r:id="rId5"/>
    <p:sldId id="260" r:id="rId6"/>
    <p:sldId id="261" r:id="rId7"/>
    <p:sldId id="262" r:id="rId8"/>
    <p:sldId id="270" r:id="rId9"/>
    <p:sldId id="263" r:id="rId10"/>
    <p:sldId id="278" r:id="rId11"/>
    <p:sldId id="283" r:id="rId12"/>
    <p:sldId id="272" r:id="rId13"/>
    <p:sldId id="273" r:id="rId14"/>
    <p:sldId id="274" r:id="rId15"/>
    <p:sldId id="275" r:id="rId16"/>
    <p:sldId id="276" r:id="rId17"/>
    <p:sldId id="265" r:id="rId18"/>
    <p:sldId id="266" r:id="rId19"/>
    <p:sldId id="267" r:id="rId20"/>
    <p:sldId id="268" r:id="rId21"/>
    <p:sldId id="269"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917619660898" initials="9" lastIdx="1" clrIdx="0">
    <p:extLst>
      <p:ext uri="{19B8F6BF-5375-455C-9EA6-DF929625EA0E}">
        <p15:presenceInfo xmlns:p15="http://schemas.microsoft.com/office/powerpoint/2012/main" userId="865ecb8ad9acf7c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commentAuthors" Target="commentAuthor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8667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75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8734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8629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68107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4522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466107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8610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4/26/2026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87208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0703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8588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4/26/2026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260479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561BD1-E3AC-9C16-DC22-59EC583FD2F6}"/>
              </a:ext>
            </a:extLst>
          </p:cNvPr>
          <p:cNvPicPr>
            <a:picLocks noChangeAspect="1"/>
          </p:cNvPicPr>
          <p:nvPr/>
        </p:nvPicPr>
        <p:blipFill>
          <a:blip r:embed="rId2"/>
          <a:stretch>
            <a:fillRect/>
          </a:stretch>
        </p:blipFill>
        <p:spPr>
          <a:xfrm>
            <a:off x="143173" y="278215"/>
            <a:ext cx="11728278" cy="5615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9FD5A-4B21-C620-11FD-D1D2C1FAD898}"/>
              </a:ext>
            </a:extLst>
          </p:cNvPr>
          <p:cNvSpPr>
            <a:spLocks noGrp="1"/>
          </p:cNvSpPr>
          <p:nvPr>
            <p:ph type="title"/>
          </p:nvPr>
        </p:nvSpPr>
        <p:spPr/>
        <p:txBody>
          <a:bodyPr/>
          <a:lstStyle/>
          <a:p>
            <a:r>
              <a:rPr lang="en-US" b="1" dirty="0"/>
              <a:t>CONTENTS</a:t>
            </a:r>
          </a:p>
        </p:txBody>
      </p:sp>
      <p:sp>
        <p:nvSpPr>
          <p:cNvPr id="3" name="TextBox 2">
            <a:extLst>
              <a:ext uri="{FF2B5EF4-FFF2-40B4-BE49-F238E27FC236}">
                <a16:creationId xmlns:a16="http://schemas.microsoft.com/office/drawing/2014/main" id="{0EDF3576-01BD-875F-1E85-1B22D87827D7}"/>
              </a:ext>
            </a:extLst>
          </p:cNvPr>
          <p:cNvSpPr txBox="1"/>
          <p:nvPr/>
        </p:nvSpPr>
        <p:spPr>
          <a:xfrm>
            <a:off x="1794645" y="2181008"/>
            <a:ext cx="3535999" cy="2677656"/>
          </a:xfrm>
          <a:prstGeom prst="rect">
            <a:avLst/>
          </a:prstGeom>
          <a:noFill/>
        </p:spPr>
        <p:txBody>
          <a:bodyPr wrap="square" rtlCol="0">
            <a:spAutoFit/>
          </a:bodyPr>
          <a:lstStyle/>
          <a:p>
            <a:pPr marL="285750" indent="-285750" algn="l">
              <a:buFont typeface="Arial" panose="020B0604020202020204" pitchFamily="34" charset="0"/>
              <a:buChar char="•"/>
            </a:pPr>
            <a:r>
              <a:rPr lang="en-US" sz="2400" dirty="0"/>
              <a:t>Introduction
Objectives
Components
Piezoelectric Sensor
Piezoelectric Effect
Working Principle
Block Diagram</a:t>
            </a:r>
          </a:p>
        </p:txBody>
      </p:sp>
      <p:sp>
        <p:nvSpPr>
          <p:cNvPr id="4" name="TextBox 3">
            <a:extLst>
              <a:ext uri="{FF2B5EF4-FFF2-40B4-BE49-F238E27FC236}">
                <a16:creationId xmlns:a16="http://schemas.microsoft.com/office/drawing/2014/main" id="{1184640E-96E4-E736-A2E6-6223A5C3E605}"/>
              </a:ext>
            </a:extLst>
          </p:cNvPr>
          <p:cNvSpPr txBox="1"/>
          <p:nvPr/>
        </p:nvSpPr>
        <p:spPr>
          <a:xfrm>
            <a:off x="5330644" y="2181008"/>
            <a:ext cx="5382599" cy="3046988"/>
          </a:xfrm>
          <a:prstGeom prst="rect">
            <a:avLst/>
          </a:prstGeom>
          <a:noFill/>
        </p:spPr>
        <p:txBody>
          <a:bodyPr wrap="square" rtlCol="0">
            <a:spAutoFit/>
          </a:bodyPr>
          <a:lstStyle/>
          <a:p>
            <a:pPr marL="285750" indent="-285750" algn="l">
              <a:buFont typeface="Arial" panose="020B0604020202020204" pitchFamily="34" charset="0"/>
              <a:buChar char="•"/>
            </a:pPr>
            <a:r>
              <a:rPr lang="en-US" sz="2400" dirty="0"/>
              <a:t>Circuit Connections
Hardware Components
Final Output
Applications
Advantages
Disadvantages
Real-World Examples
Conclusion</a:t>
            </a:r>
          </a:p>
        </p:txBody>
      </p:sp>
    </p:spTree>
    <p:extLst>
      <p:ext uri="{BB962C8B-B14F-4D97-AF65-F5344CB8AC3E}">
        <p14:creationId xmlns:p14="http://schemas.microsoft.com/office/powerpoint/2010/main" val="3085013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1044803"/>
          </a:xfrm>
        </p:spPr>
        <p:txBody>
          <a:bodyPr/>
          <a:lstStyle/>
          <a:p>
            <a:r>
              <a:rPr b="1"/>
              <a:t>Introduction</a:t>
            </a:r>
          </a:p>
        </p:txBody>
      </p:sp>
      <p:sp>
        <p:nvSpPr>
          <p:cNvPr id="3" name="Content Placeholder 2"/>
          <p:cNvSpPr>
            <a:spLocks noGrp="1"/>
          </p:cNvSpPr>
          <p:nvPr>
            <p:ph idx="1"/>
          </p:nvPr>
        </p:nvSpPr>
        <p:spPr/>
        <p:txBody>
          <a:bodyPr>
            <a:noAutofit/>
          </a:bodyPr>
          <a:lstStyle/>
          <a:p>
            <a:r>
              <a:rPr lang="en-US" sz="2400" dirty="0"/>
              <a:t>Energy demand is increasing rapidly
Conventional energy sources are limited and polluting
Need for alternative and renewable energy solutions
Human footsteps contain unused mechanical energy
Piezoelectric sensors convert this mechanical energy into electrical energy</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67037"/>
            <a:ext cx="9603275" cy="1049235"/>
          </a:xfrm>
        </p:spPr>
        <p:txBody>
          <a:bodyPr/>
          <a:lstStyle/>
          <a:p>
            <a:r>
              <a:rPr b="1" dirty="0"/>
              <a:t>Objectives</a:t>
            </a:r>
          </a:p>
        </p:txBody>
      </p:sp>
      <p:sp>
        <p:nvSpPr>
          <p:cNvPr id="3" name="Content Placeholder 2"/>
          <p:cNvSpPr>
            <a:spLocks noGrp="1"/>
          </p:cNvSpPr>
          <p:nvPr>
            <p:ph idx="1"/>
          </p:nvPr>
        </p:nvSpPr>
        <p:spPr/>
        <p:txBody>
          <a:bodyPr>
            <a:normAutofit/>
          </a:bodyPr>
          <a:lstStyle/>
          <a:p>
            <a:r>
              <a:rPr lang="en-US" sz="2400" dirty="0"/>
              <a:t>To design a footstep-based energy harvesting system
To utilize the piezoelectric effect for power generation
To convert and store electrical energy efficiently
To display generated voltage and step count
To develop an eco-friendly energy solution</a:t>
            </a: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Components</a:t>
            </a:r>
          </a:p>
        </p:txBody>
      </p:sp>
      <p:sp>
        <p:nvSpPr>
          <p:cNvPr id="3" name="Content Placeholder 2"/>
          <p:cNvSpPr>
            <a:spLocks noGrp="1"/>
          </p:cNvSpPr>
          <p:nvPr>
            <p:ph idx="1"/>
          </p:nvPr>
        </p:nvSpPr>
        <p:spPr>
          <a:xfrm>
            <a:off x="1451579" y="1853754"/>
            <a:ext cx="9603275" cy="3612591"/>
          </a:xfrm>
        </p:spPr>
        <p:txBody>
          <a:bodyPr>
            <a:noAutofit/>
          </a:bodyPr>
          <a:lstStyle/>
          <a:p>
            <a:r>
              <a:rPr lang="en-US" sz="2400" dirty="0"/>
              <a:t>Piezoelectric Sensors
Arduino Uno
LCD Display (I2C)
Bridge Rectifier
Capacitor
Rechargeable Battery
Breadboard and Connecting Wires</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67037"/>
            <a:ext cx="9603275" cy="1049235"/>
          </a:xfrm>
        </p:spPr>
        <p:txBody>
          <a:bodyPr/>
          <a:lstStyle/>
          <a:p>
            <a:r>
              <a:rPr b="1" dirty="0"/>
              <a:t>Piezoelectric Sensor</a:t>
            </a:r>
          </a:p>
        </p:txBody>
      </p:sp>
      <p:sp>
        <p:nvSpPr>
          <p:cNvPr id="3" name="Content Placeholder 2"/>
          <p:cNvSpPr>
            <a:spLocks noGrp="1"/>
          </p:cNvSpPr>
          <p:nvPr>
            <p:ph idx="1"/>
          </p:nvPr>
        </p:nvSpPr>
        <p:spPr/>
        <p:txBody>
          <a:bodyPr>
            <a:normAutofit/>
          </a:bodyPr>
          <a:lstStyle/>
          <a:p>
            <a:r>
              <a:rPr lang="en-US" sz="2400" dirty="0"/>
              <a:t>Converts mechanical pressure into electrical energy
Works based on the piezoelectric effect
Generates AC voltage when force is applied
Compact, durable, and highly sensitive</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67037"/>
            <a:ext cx="9603275" cy="1049235"/>
          </a:xfrm>
        </p:spPr>
        <p:txBody>
          <a:bodyPr/>
          <a:lstStyle/>
          <a:p>
            <a:r>
              <a:rPr b="1" dirty="0"/>
              <a:t>Piezoelectric Effect</a:t>
            </a:r>
          </a:p>
        </p:txBody>
      </p:sp>
      <p:sp>
        <p:nvSpPr>
          <p:cNvPr id="3" name="Content Placeholder 2"/>
          <p:cNvSpPr>
            <a:spLocks noGrp="1"/>
          </p:cNvSpPr>
          <p:nvPr>
            <p:ph idx="1"/>
          </p:nvPr>
        </p:nvSpPr>
        <p:spPr/>
        <p:txBody>
          <a:bodyPr/>
          <a:lstStyle/>
          <a:p>
            <a:r>
              <a:rPr lang="en-US" dirty="0"/>
              <a:t>Certain materials generate electric charge when mechanical stress is applied
This phenomenon is called the piezoelectric effect </a:t>
            </a:r>
          </a:p>
          <a:p>
            <a:pPr marL="0" indent="0">
              <a:buNone/>
            </a:pPr>
            <a:r>
              <a:rPr lang="en-US" dirty="0"/>
              <a:t>    Example: Quartz crystal</a:t>
            </a:r>
          </a:p>
          <a:p>
            <a:r>
              <a:rPr lang="en-US" dirty="0"/>
              <a:t>Converts mechanical energy into electrical energy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83CEBF0-4A62-9267-6388-29D4D285A389}"/>
              </a:ext>
            </a:extLst>
          </p:cNvPr>
          <p:cNvSpPr>
            <a:spLocks noGrp="1"/>
          </p:cNvSpPr>
          <p:nvPr>
            <p:ph type="title"/>
          </p:nvPr>
        </p:nvSpPr>
        <p:spPr/>
        <p:txBody>
          <a:bodyPr/>
          <a:lstStyle/>
          <a:p>
            <a:r>
              <a:rPr lang="en-US" b="1" dirty="0"/>
              <a:t>PIEZOELECTRIC EFFECT</a:t>
            </a:r>
          </a:p>
        </p:txBody>
      </p:sp>
      <p:pic>
        <p:nvPicPr>
          <p:cNvPr id="5" name="Content Placeholder 4">
            <a:extLst>
              <a:ext uri="{FF2B5EF4-FFF2-40B4-BE49-F238E27FC236}">
                <a16:creationId xmlns:a16="http://schemas.microsoft.com/office/drawing/2014/main" id="{BEC2D9C2-17AA-2EF9-03A3-48885B25AAE4}"/>
              </a:ext>
            </a:extLst>
          </p:cNvPr>
          <p:cNvPicPr>
            <a:picLocks noGrp="1" noChangeAspect="1"/>
          </p:cNvPicPr>
          <p:nvPr>
            <p:ph idx="1"/>
          </p:nvPr>
        </p:nvPicPr>
        <p:blipFill>
          <a:blip r:embed="rId2"/>
          <a:srcRect l="-1" t="14187" r="-2535" b="5572"/>
          <a:stretch>
            <a:fillRect/>
          </a:stretch>
        </p:blipFill>
        <p:spPr>
          <a:xfrm>
            <a:off x="1451579" y="2004426"/>
            <a:ext cx="9882972" cy="4049055"/>
          </a:xfrm>
          <a:prstGeom prst="rect">
            <a:avLst/>
          </a:prstGeom>
        </p:spPr>
      </p:pic>
      <p:sp>
        <p:nvSpPr>
          <p:cNvPr id="7" name="TextBox 6">
            <a:extLst>
              <a:ext uri="{FF2B5EF4-FFF2-40B4-BE49-F238E27FC236}">
                <a16:creationId xmlns:a16="http://schemas.microsoft.com/office/drawing/2014/main" id="{9F5E2408-070F-0393-FBAD-A3CD432DDEDD}"/>
              </a:ext>
            </a:extLst>
          </p:cNvPr>
          <p:cNvSpPr txBox="1"/>
          <p:nvPr/>
        </p:nvSpPr>
        <p:spPr>
          <a:xfrm>
            <a:off x="1036287" y="3757658"/>
            <a:ext cx="5216875" cy="584775"/>
          </a:xfrm>
          <a:prstGeom prst="rect">
            <a:avLst/>
          </a:prstGeom>
          <a:noFill/>
        </p:spPr>
        <p:txBody>
          <a:bodyPr wrap="square" anchor="t">
            <a:spAutoFit/>
          </a:bodyPr>
          <a:lstStyle/>
          <a:p>
            <a:pPr lvl="1" algn="ctr"/>
            <a:r>
              <a:rPr lang="en-US" sz="3200" b="1" dirty="0"/>
              <a:t> </a:t>
            </a:r>
          </a:p>
        </p:txBody>
      </p:sp>
    </p:spTree>
    <p:extLst>
      <p:ext uri="{BB962C8B-B14F-4D97-AF65-F5344CB8AC3E}">
        <p14:creationId xmlns:p14="http://schemas.microsoft.com/office/powerpoint/2010/main" val="2181574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Working Principle</a:t>
            </a:r>
          </a:p>
        </p:txBody>
      </p:sp>
      <p:sp>
        <p:nvSpPr>
          <p:cNvPr id="3" name="Content Placeholder 2"/>
          <p:cNvSpPr>
            <a:spLocks noGrp="1"/>
          </p:cNvSpPr>
          <p:nvPr>
            <p:ph idx="1"/>
          </p:nvPr>
        </p:nvSpPr>
        <p:spPr/>
        <p:txBody>
          <a:bodyPr/>
          <a:lstStyle/>
          <a:p>
            <a:r>
              <a:rPr dirty="0"/>
              <a:t> </a:t>
            </a:r>
            <a:r>
              <a:rPr lang="en-US" sz="2400" dirty="0"/>
              <a:t>Footstep applies mechanical pressure on sensors
Piezoelectric sensors generate AC voltage
Bridge rectifier converts AC to DC
Capacitor </a:t>
            </a:r>
            <a:r>
              <a:rPr lang="en-US" sz="2400" dirty="0" err="1"/>
              <a:t>smooths</a:t>
            </a:r>
            <a:r>
              <a:rPr lang="en-US" sz="2400" dirty="0"/>
              <a:t> the output voltage
Energy is stored in a rechargeable battery
Arduino displays voltage and step count on LCD</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9DAC-9235-06BD-D840-A5EB641D3733}"/>
              </a:ext>
            </a:extLst>
          </p:cNvPr>
          <p:cNvSpPr>
            <a:spLocks noGrp="1"/>
          </p:cNvSpPr>
          <p:nvPr>
            <p:ph type="title"/>
          </p:nvPr>
        </p:nvSpPr>
        <p:spPr/>
        <p:txBody>
          <a:bodyPr/>
          <a:lstStyle/>
          <a:p>
            <a:r>
              <a:rPr lang="en-IN" b="1" dirty="0"/>
              <a:t>Block Diagram </a:t>
            </a:r>
            <a:endParaRPr lang="en-US" b="1" dirty="0"/>
          </a:p>
        </p:txBody>
      </p:sp>
      <p:pic>
        <p:nvPicPr>
          <p:cNvPr id="4" name="Content Placeholder 3">
            <a:extLst>
              <a:ext uri="{FF2B5EF4-FFF2-40B4-BE49-F238E27FC236}">
                <a16:creationId xmlns:a16="http://schemas.microsoft.com/office/drawing/2014/main" id="{55B72898-D917-1FFB-56E7-B72C7C28E0FA}"/>
              </a:ext>
            </a:extLst>
          </p:cNvPr>
          <p:cNvPicPr>
            <a:picLocks noGrp="1" noChangeAspect="1"/>
          </p:cNvPicPr>
          <p:nvPr>
            <p:ph idx="1"/>
          </p:nvPr>
        </p:nvPicPr>
        <p:blipFill>
          <a:blip r:embed="rId2"/>
          <a:stretch>
            <a:fillRect/>
          </a:stretch>
        </p:blipFill>
        <p:spPr>
          <a:xfrm>
            <a:off x="1451579" y="2016125"/>
            <a:ext cx="9202899" cy="4037356"/>
          </a:xfrm>
          <a:prstGeom prst="rect">
            <a:avLst/>
          </a:prstGeom>
        </p:spPr>
      </p:pic>
    </p:spTree>
    <p:extLst>
      <p:ext uri="{BB962C8B-B14F-4D97-AF65-F5344CB8AC3E}">
        <p14:creationId xmlns:p14="http://schemas.microsoft.com/office/powerpoint/2010/main" val="3766927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76B80-7557-C812-2E02-ED7B454930D6}"/>
              </a:ext>
            </a:extLst>
          </p:cNvPr>
          <p:cNvSpPr>
            <a:spLocks noGrp="1"/>
          </p:cNvSpPr>
          <p:nvPr>
            <p:ph type="title"/>
          </p:nvPr>
        </p:nvSpPr>
        <p:spPr/>
        <p:txBody>
          <a:bodyPr/>
          <a:lstStyle/>
          <a:p>
            <a:r>
              <a:rPr lang="en-IN" b="1" dirty="0"/>
              <a:t>Connection of Piezoelectric sensor </a:t>
            </a:r>
            <a:endParaRPr lang="en-US" b="1" dirty="0"/>
          </a:p>
        </p:txBody>
      </p:sp>
      <p:pic>
        <p:nvPicPr>
          <p:cNvPr id="10" name="Content Placeholder 9">
            <a:extLst>
              <a:ext uri="{FF2B5EF4-FFF2-40B4-BE49-F238E27FC236}">
                <a16:creationId xmlns:a16="http://schemas.microsoft.com/office/drawing/2014/main" id="{B8E276E9-A91E-8445-E9FB-FA3D1AE56C08}"/>
              </a:ext>
            </a:extLst>
          </p:cNvPr>
          <p:cNvPicPr>
            <a:picLocks noGrp="1" noChangeAspect="1"/>
          </p:cNvPicPr>
          <p:nvPr>
            <p:ph idx="1"/>
          </p:nvPr>
        </p:nvPicPr>
        <p:blipFill>
          <a:blip r:embed="rId2"/>
          <a:stretch>
            <a:fillRect/>
          </a:stretch>
        </p:blipFill>
        <p:spPr>
          <a:xfrm rot="5400000">
            <a:off x="1747493" y="1509002"/>
            <a:ext cx="3766913" cy="4979160"/>
          </a:xfrm>
          <a:prstGeom prst="rect">
            <a:avLst/>
          </a:prstGeom>
        </p:spPr>
      </p:pic>
      <p:sp>
        <p:nvSpPr>
          <p:cNvPr id="3" name="TextBox 2">
            <a:extLst>
              <a:ext uri="{FF2B5EF4-FFF2-40B4-BE49-F238E27FC236}">
                <a16:creationId xmlns:a16="http://schemas.microsoft.com/office/drawing/2014/main" id="{62A4926D-249C-A94C-7CCC-21EE3A25A4B9}"/>
              </a:ext>
            </a:extLst>
          </p:cNvPr>
          <p:cNvSpPr txBox="1"/>
          <p:nvPr/>
        </p:nvSpPr>
        <p:spPr>
          <a:xfrm>
            <a:off x="6120530" y="2228433"/>
            <a:ext cx="6098467" cy="830997"/>
          </a:xfrm>
          <a:prstGeom prst="rect">
            <a:avLst/>
          </a:prstGeom>
          <a:noFill/>
        </p:spPr>
        <p:txBody>
          <a:bodyPr wrap="square" rtlCol="0">
            <a:spAutoFit/>
          </a:bodyPr>
          <a:lstStyle/>
          <a:p>
            <a:pPr algn="l"/>
            <a:r>
              <a:rPr lang="en-US" sz="2400" i="1" dirty="0"/>
              <a:t>Multiple piezo sensors are connected in Series to increase output voltage and current</a:t>
            </a:r>
          </a:p>
        </p:txBody>
      </p:sp>
    </p:spTree>
    <p:extLst>
      <p:ext uri="{BB962C8B-B14F-4D97-AF65-F5344CB8AC3E}">
        <p14:creationId xmlns:p14="http://schemas.microsoft.com/office/powerpoint/2010/main" val="377464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1E63C-4E00-0EB8-9B6D-A0F3289B5E21}"/>
              </a:ext>
            </a:extLst>
          </p:cNvPr>
          <p:cNvSpPr>
            <a:spLocks noGrp="1"/>
          </p:cNvSpPr>
          <p:nvPr>
            <p:ph type="title"/>
          </p:nvPr>
        </p:nvSpPr>
        <p:spPr/>
        <p:txBody>
          <a:bodyPr>
            <a:normAutofit/>
          </a:bodyPr>
          <a:lstStyle/>
          <a:p>
            <a:r>
              <a:rPr lang="en-IN" b="1" dirty="0"/>
              <a:t>Breadboard connection </a:t>
            </a:r>
            <a:r>
              <a:rPr lang="en-IN" b="1" dirty="0" err="1"/>
              <a:t>usin</a:t>
            </a:r>
            <a:r>
              <a:rPr lang="en-US" b="1" dirty="0"/>
              <a:t>G</a:t>
            </a:r>
          </a:p>
        </p:txBody>
      </p:sp>
      <p:pic>
        <p:nvPicPr>
          <p:cNvPr id="4" name="Content Placeholder 3">
            <a:extLst>
              <a:ext uri="{FF2B5EF4-FFF2-40B4-BE49-F238E27FC236}">
                <a16:creationId xmlns:a16="http://schemas.microsoft.com/office/drawing/2014/main" id="{5707ED5F-ACDA-F73C-C5C8-E5F536AC4D72}"/>
              </a:ext>
            </a:extLst>
          </p:cNvPr>
          <p:cNvPicPr>
            <a:picLocks noGrp="1" noChangeAspect="1"/>
          </p:cNvPicPr>
          <p:nvPr>
            <p:ph idx="1"/>
          </p:nvPr>
        </p:nvPicPr>
        <p:blipFill>
          <a:blip r:embed="rId2"/>
          <a:stretch>
            <a:fillRect/>
          </a:stretch>
        </p:blipFill>
        <p:spPr>
          <a:xfrm>
            <a:off x="1207676" y="1956470"/>
            <a:ext cx="5197165" cy="3977700"/>
          </a:xfrm>
          <a:prstGeom prst="rect">
            <a:avLst/>
          </a:prstGeom>
        </p:spPr>
      </p:pic>
      <p:sp>
        <p:nvSpPr>
          <p:cNvPr id="3" name="TextBox 2">
            <a:extLst>
              <a:ext uri="{FF2B5EF4-FFF2-40B4-BE49-F238E27FC236}">
                <a16:creationId xmlns:a16="http://schemas.microsoft.com/office/drawing/2014/main" id="{CBB17E46-024A-6CFF-4102-A72DEAE809EA}"/>
              </a:ext>
            </a:extLst>
          </p:cNvPr>
          <p:cNvSpPr txBox="1"/>
          <p:nvPr/>
        </p:nvSpPr>
        <p:spPr>
          <a:xfrm>
            <a:off x="6763266" y="1956470"/>
            <a:ext cx="3843487" cy="1569660"/>
          </a:xfrm>
          <a:prstGeom prst="rect">
            <a:avLst/>
          </a:prstGeom>
          <a:noFill/>
        </p:spPr>
        <p:txBody>
          <a:bodyPr wrap="square" rtlCol="0">
            <a:spAutoFit/>
          </a:bodyPr>
          <a:lstStyle/>
          <a:p>
            <a:pPr marL="342900" indent="-342900" algn="l">
              <a:buFont typeface="Arial" panose="020B0604020202020204" pitchFamily="34" charset="0"/>
              <a:buChar char="•"/>
            </a:pPr>
            <a:r>
              <a:rPr lang="en-US" sz="2400" b="1" dirty="0"/>
              <a:t>Resistors
Capacitors
Diodes
Jumper wires</a:t>
            </a:r>
          </a:p>
        </p:txBody>
      </p:sp>
    </p:spTree>
    <p:extLst>
      <p:ext uri="{BB962C8B-B14F-4D97-AF65-F5344CB8AC3E}">
        <p14:creationId xmlns:p14="http://schemas.microsoft.com/office/powerpoint/2010/main" val="793014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CA29F-A997-4A3C-8B4D-676CD1F813DC}"/>
              </a:ext>
            </a:extLst>
          </p:cNvPr>
          <p:cNvSpPr>
            <a:spLocks noGrp="1"/>
          </p:cNvSpPr>
          <p:nvPr>
            <p:ph type="title"/>
          </p:nvPr>
        </p:nvSpPr>
        <p:spPr/>
        <p:txBody>
          <a:bodyPr>
            <a:normAutofit/>
          </a:bodyPr>
          <a:lstStyle/>
          <a:p>
            <a:r>
              <a:rPr lang="en-IN" b="1" dirty="0"/>
              <a:t>Batter</a:t>
            </a:r>
            <a:r>
              <a:rPr lang="en-US" b="1" dirty="0"/>
              <a:t>Y</a:t>
            </a:r>
          </a:p>
        </p:txBody>
      </p:sp>
      <p:pic>
        <p:nvPicPr>
          <p:cNvPr id="4" name="Content Placeholder 3">
            <a:extLst>
              <a:ext uri="{FF2B5EF4-FFF2-40B4-BE49-F238E27FC236}">
                <a16:creationId xmlns:a16="http://schemas.microsoft.com/office/drawing/2014/main" id="{FEA0A774-2764-514F-1639-89B539A7C004}"/>
              </a:ext>
            </a:extLst>
          </p:cNvPr>
          <p:cNvPicPr>
            <a:picLocks noGrp="1" noChangeAspect="1"/>
          </p:cNvPicPr>
          <p:nvPr>
            <p:ph idx="1"/>
          </p:nvPr>
        </p:nvPicPr>
        <p:blipFill>
          <a:blip r:embed="rId2"/>
          <a:stretch>
            <a:fillRect/>
          </a:stretch>
        </p:blipFill>
        <p:spPr>
          <a:xfrm>
            <a:off x="1143543" y="1980331"/>
            <a:ext cx="5446796" cy="3449638"/>
          </a:xfrm>
          <a:prstGeom prst="rect">
            <a:avLst/>
          </a:prstGeom>
        </p:spPr>
      </p:pic>
      <p:sp>
        <p:nvSpPr>
          <p:cNvPr id="3" name="TextBox 2">
            <a:extLst>
              <a:ext uri="{FF2B5EF4-FFF2-40B4-BE49-F238E27FC236}">
                <a16:creationId xmlns:a16="http://schemas.microsoft.com/office/drawing/2014/main" id="{34DB35D7-56E0-7544-6D8D-C33C1E909252}"/>
              </a:ext>
            </a:extLst>
          </p:cNvPr>
          <p:cNvSpPr txBox="1"/>
          <p:nvPr/>
        </p:nvSpPr>
        <p:spPr>
          <a:xfrm>
            <a:off x="6775197" y="2259412"/>
            <a:ext cx="4881493" cy="1938992"/>
          </a:xfrm>
          <a:prstGeom prst="rect">
            <a:avLst/>
          </a:prstGeom>
          <a:noFill/>
        </p:spPr>
        <p:txBody>
          <a:bodyPr wrap="square" rtlCol="0">
            <a:spAutoFit/>
          </a:bodyPr>
          <a:lstStyle/>
          <a:p>
            <a:pPr marL="285750" indent="-285750" algn="l">
              <a:buFont typeface="Arial" panose="020B0604020202020204" pitchFamily="34" charset="0"/>
              <a:buChar char="•"/>
            </a:pPr>
            <a:r>
              <a:rPr lang="en-US" sz="2400" dirty="0"/>
              <a:t>Rechargeable battery is used to store generated energy
Output voltage depends on number of sensors and pressure applied</a:t>
            </a:r>
          </a:p>
        </p:txBody>
      </p:sp>
    </p:spTree>
    <p:extLst>
      <p:ext uri="{BB962C8B-B14F-4D97-AF65-F5344CB8AC3E}">
        <p14:creationId xmlns:p14="http://schemas.microsoft.com/office/powerpoint/2010/main" val="491930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D865-CCDD-6836-A50A-E937ECE4A52D}"/>
              </a:ext>
            </a:extLst>
          </p:cNvPr>
          <p:cNvSpPr>
            <a:spLocks noGrp="1"/>
          </p:cNvSpPr>
          <p:nvPr>
            <p:ph type="title"/>
          </p:nvPr>
        </p:nvSpPr>
        <p:spPr/>
        <p:txBody>
          <a:bodyPr>
            <a:normAutofit/>
          </a:bodyPr>
          <a:lstStyle/>
          <a:p>
            <a:r>
              <a:rPr lang="en-IN" b="1" dirty="0"/>
              <a:t>Arduino UNO r3 SDM </a:t>
            </a:r>
            <a:endParaRPr lang="en-US" b="1" dirty="0"/>
          </a:p>
        </p:txBody>
      </p:sp>
      <p:pic>
        <p:nvPicPr>
          <p:cNvPr id="4" name="Content Placeholder 3">
            <a:extLst>
              <a:ext uri="{FF2B5EF4-FFF2-40B4-BE49-F238E27FC236}">
                <a16:creationId xmlns:a16="http://schemas.microsoft.com/office/drawing/2014/main" id="{23327CCF-73CB-65D7-CBCC-AFEBF8C31733}"/>
              </a:ext>
            </a:extLst>
          </p:cNvPr>
          <p:cNvPicPr>
            <a:picLocks noGrp="1" noChangeAspect="1"/>
          </p:cNvPicPr>
          <p:nvPr>
            <p:ph idx="1"/>
          </p:nvPr>
        </p:nvPicPr>
        <p:blipFill>
          <a:blip r:embed="rId2"/>
          <a:stretch>
            <a:fillRect/>
          </a:stretch>
        </p:blipFill>
        <p:spPr>
          <a:xfrm>
            <a:off x="1340957" y="2039987"/>
            <a:ext cx="5362177" cy="3449638"/>
          </a:xfrm>
          <a:prstGeom prst="rect">
            <a:avLst/>
          </a:prstGeom>
        </p:spPr>
      </p:pic>
      <p:sp>
        <p:nvSpPr>
          <p:cNvPr id="3" name="TextBox 2">
            <a:extLst>
              <a:ext uri="{FF2B5EF4-FFF2-40B4-BE49-F238E27FC236}">
                <a16:creationId xmlns:a16="http://schemas.microsoft.com/office/drawing/2014/main" id="{077C7031-21F6-06A2-1ED1-7AFDB21BBBBB}"/>
              </a:ext>
            </a:extLst>
          </p:cNvPr>
          <p:cNvSpPr txBox="1"/>
          <p:nvPr/>
        </p:nvSpPr>
        <p:spPr>
          <a:xfrm>
            <a:off x="7145062" y="2587379"/>
            <a:ext cx="4380387" cy="1569660"/>
          </a:xfrm>
          <a:prstGeom prst="rect">
            <a:avLst/>
          </a:prstGeom>
          <a:noFill/>
        </p:spPr>
        <p:txBody>
          <a:bodyPr wrap="square" rtlCol="0">
            <a:spAutoFit/>
          </a:bodyPr>
          <a:lstStyle/>
          <a:p>
            <a:pPr marL="285750" indent="-285750" algn="l">
              <a:buFont typeface="Arial" panose="020B0604020202020204" pitchFamily="34" charset="0"/>
              <a:buChar char="•"/>
            </a:pPr>
            <a:r>
              <a:rPr lang="en-US" sz="2400" dirty="0"/>
              <a:t>Arduino Uno is used to process the generated voltage
It reads input from the circuit
Sends data to LCD display</a:t>
            </a:r>
          </a:p>
        </p:txBody>
      </p:sp>
    </p:spTree>
    <p:extLst>
      <p:ext uri="{BB962C8B-B14F-4D97-AF65-F5344CB8AC3E}">
        <p14:creationId xmlns:p14="http://schemas.microsoft.com/office/powerpoint/2010/main" val="1333275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1C261-D62B-2072-2DEC-D35854F30B0F}"/>
              </a:ext>
            </a:extLst>
          </p:cNvPr>
          <p:cNvSpPr>
            <a:spLocks noGrp="1"/>
          </p:cNvSpPr>
          <p:nvPr>
            <p:ph type="title"/>
          </p:nvPr>
        </p:nvSpPr>
        <p:spPr/>
        <p:txBody>
          <a:bodyPr>
            <a:normAutofit/>
          </a:bodyPr>
          <a:lstStyle/>
          <a:p>
            <a:r>
              <a:rPr lang="en-IN" b="1" dirty="0"/>
              <a:t>LCD Display </a:t>
            </a:r>
            <a:endParaRPr lang="en-US" b="1" dirty="0"/>
          </a:p>
        </p:txBody>
      </p:sp>
      <p:pic>
        <p:nvPicPr>
          <p:cNvPr id="4" name="Content Placeholder 3">
            <a:extLst>
              <a:ext uri="{FF2B5EF4-FFF2-40B4-BE49-F238E27FC236}">
                <a16:creationId xmlns:a16="http://schemas.microsoft.com/office/drawing/2014/main" id="{368D572E-1352-2FC6-940D-A7AF1D005A37}"/>
              </a:ext>
            </a:extLst>
          </p:cNvPr>
          <p:cNvPicPr>
            <a:picLocks noGrp="1" noChangeAspect="1"/>
          </p:cNvPicPr>
          <p:nvPr>
            <p:ph idx="1"/>
          </p:nvPr>
        </p:nvPicPr>
        <p:blipFill>
          <a:blip r:embed="rId2"/>
          <a:stretch>
            <a:fillRect/>
          </a:stretch>
        </p:blipFill>
        <p:spPr>
          <a:xfrm>
            <a:off x="1072251" y="2028056"/>
            <a:ext cx="6520007" cy="3449638"/>
          </a:xfrm>
          <a:prstGeom prst="rect">
            <a:avLst/>
          </a:prstGeom>
        </p:spPr>
      </p:pic>
      <p:sp>
        <p:nvSpPr>
          <p:cNvPr id="3" name="TextBox 2">
            <a:extLst>
              <a:ext uri="{FF2B5EF4-FFF2-40B4-BE49-F238E27FC236}">
                <a16:creationId xmlns:a16="http://schemas.microsoft.com/office/drawing/2014/main" id="{21B4A929-C4DA-9386-0555-49A655F6E614}"/>
              </a:ext>
            </a:extLst>
          </p:cNvPr>
          <p:cNvSpPr txBox="1"/>
          <p:nvPr/>
        </p:nvSpPr>
        <p:spPr>
          <a:xfrm>
            <a:off x="8063757" y="2275546"/>
            <a:ext cx="3533277" cy="1200329"/>
          </a:xfrm>
          <a:prstGeom prst="rect">
            <a:avLst/>
          </a:prstGeom>
          <a:noFill/>
        </p:spPr>
        <p:txBody>
          <a:bodyPr wrap="square" rtlCol="0">
            <a:spAutoFit/>
          </a:bodyPr>
          <a:lstStyle/>
          <a:p>
            <a:pPr algn="l"/>
            <a:r>
              <a:rPr lang="en-US" sz="2400" dirty="0"/>
              <a:t>LCD display shows:
  - Generated voltage
  - Step count</a:t>
            </a:r>
          </a:p>
        </p:txBody>
      </p:sp>
    </p:spTree>
    <p:extLst>
      <p:ext uri="{BB962C8B-B14F-4D97-AF65-F5344CB8AC3E}">
        <p14:creationId xmlns:p14="http://schemas.microsoft.com/office/powerpoint/2010/main" val="1407726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7B005-69E1-F440-1D6C-0863EF37C5C3}"/>
              </a:ext>
            </a:extLst>
          </p:cNvPr>
          <p:cNvSpPr>
            <a:spLocks noGrp="1"/>
          </p:cNvSpPr>
          <p:nvPr>
            <p:ph type="title"/>
          </p:nvPr>
        </p:nvSpPr>
        <p:spPr/>
        <p:txBody>
          <a:bodyPr/>
          <a:lstStyle/>
          <a:p>
            <a:r>
              <a:rPr lang="en-IN" b="1" dirty="0"/>
              <a:t>FINAL</a:t>
            </a:r>
            <a:r>
              <a:rPr lang="en-US" b="1" dirty="0"/>
              <a:t> OUTPUT</a:t>
            </a:r>
          </a:p>
        </p:txBody>
      </p:sp>
      <p:pic>
        <p:nvPicPr>
          <p:cNvPr id="4" name="Content Placeholder 3">
            <a:extLst>
              <a:ext uri="{FF2B5EF4-FFF2-40B4-BE49-F238E27FC236}">
                <a16:creationId xmlns:a16="http://schemas.microsoft.com/office/drawing/2014/main" id="{2FEC6B72-2E7C-1FDC-BC10-144BF4AAD8A0}"/>
              </a:ext>
            </a:extLst>
          </p:cNvPr>
          <p:cNvPicPr>
            <a:picLocks noGrp="1" noChangeAspect="1"/>
          </p:cNvPicPr>
          <p:nvPr>
            <p:ph idx="1"/>
          </p:nvPr>
        </p:nvPicPr>
        <p:blipFill>
          <a:blip r:embed="rId2"/>
          <a:stretch>
            <a:fillRect/>
          </a:stretch>
        </p:blipFill>
        <p:spPr>
          <a:xfrm>
            <a:off x="1155770" y="2078032"/>
            <a:ext cx="4455843" cy="3449638"/>
          </a:xfrm>
          <a:prstGeom prst="rect">
            <a:avLst/>
          </a:prstGeom>
        </p:spPr>
      </p:pic>
      <p:sp>
        <p:nvSpPr>
          <p:cNvPr id="3" name="TextBox 2">
            <a:extLst>
              <a:ext uri="{FF2B5EF4-FFF2-40B4-BE49-F238E27FC236}">
                <a16:creationId xmlns:a16="http://schemas.microsoft.com/office/drawing/2014/main" id="{B4A550B5-F467-DD83-BF07-7EBFB32A45AD}"/>
              </a:ext>
            </a:extLst>
          </p:cNvPr>
          <p:cNvSpPr txBox="1"/>
          <p:nvPr/>
        </p:nvSpPr>
        <p:spPr>
          <a:xfrm>
            <a:off x="6096000" y="2602522"/>
            <a:ext cx="5680002" cy="1200329"/>
          </a:xfrm>
          <a:prstGeom prst="rect">
            <a:avLst/>
          </a:prstGeom>
          <a:noFill/>
        </p:spPr>
        <p:txBody>
          <a:bodyPr wrap="square" rtlCol="0">
            <a:spAutoFit/>
          </a:bodyPr>
          <a:lstStyle/>
          <a:p>
            <a:pPr marL="342900" indent="-342900" algn="l">
              <a:buFont typeface="Arial" panose="020B0604020202020204" pitchFamily="34" charset="0"/>
              <a:buChar char="•"/>
            </a:pPr>
            <a:r>
              <a:rPr lang="en-US" sz="2400" dirty="0"/>
              <a:t>System generates voltage when footsteps are applied
Output is displayed in real-time on LCD</a:t>
            </a:r>
          </a:p>
        </p:txBody>
      </p:sp>
    </p:spTree>
    <p:extLst>
      <p:ext uri="{BB962C8B-B14F-4D97-AF65-F5344CB8AC3E}">
        <p14:creationId xmlns:p14="http://schemas.microsoft.com/office/powerpoint/2010/main" val="3079576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Applications</a:t>
            </a:r>
          </a:p>
        </p:txBody>
      </p:sp>
      <p:sp>
        <p:nvSpPr>
          <p:cNvPr id="3" name="Content Placeholder 2"/>
          <p:cNvSpPr>
            <a:spLocks noGrp="1"/>
          </p:cNvSpPr>
          <p:nvPr>
            <p:ph idx="1"/>
          </p:nvPr>
        </p:nvSpPr>
        <p:spPr/>
        <p:txBody>
          <a:bodyPr/>
          <a:lstStyle/>
          <a:p>
            <a:r>
              <a:rPr dirty="0"/>
              <a:t> </a:t>
            </a:r>
            <a:r>
              <a:rPr lang="en-US" sz="2400" dirty="0"/>
              <a:t>Railway stations
Shopping malls
Smart cities
Street lighting systems
Charging low-power devices</a:t>
            </a:r>
            <a:endParaRP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74" y="2214695"/>
            <a:ext cx="10364452" cy="3576506"/>
          </a:xfrm>
        </p:spPr>
        <p:txBody>
          <a:bodyPr>
            <a:normAutofit/>
          </a:bodyPr>
          <a:lstStyle/>
          <a:p>
            <a:r>
              <a:rPr lang="en-US" sz="2400" dirty="0"/>
              <a:t>Renewable energy source
Eco-friendly
Low maintenance
Compact design
Effective in high-footfall areas</a:t>
            </a:r>
            <a:endParaRPr sz="2400" dirty="0"/>
          </a:p>
        </p:txBody>
      </p:sp>
      <p:sp>
        <p:nvSpPr>
          <p:cNvPr id="5" name="Title 4">
            <a:extLst>
              <a:ext uri="{FF2B5EF4-FFF2-40B4-BE49-F238E27FC236}">
                <a16:creationId xmlns:a16="http://schemas.microsoft.com/office/drawing/2014/main" id="{F17ECF92-4F31-8608-14F9-868845A62F33}"/>
              </a:ext>
            </a:extLst>
          </p:cNvPr>
          <p:cNvSpPr>
            <a:spLocks noGrp="1"/>
          </p:cNvSpPr>
          <p:nvPr>
            <p:ph type="title"/>
          </p:nvPr>
        </p:nvSpPr>
        <p:spPr/>
        <p:txBody>
          <a:bodyPr/>
          <a:lstStyle/>
          <a:p>
            <a:r>
              <a:rPr lang="en-US" b="1" dirty="0"/>
              <a:t>Advantages</a:t>
            </a:r>
            <a:r>
              <a:rPr lang="en-US" dirty="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Disadvantages</a:t>
            </a:r>
          </a:p>
        </p:txBody>
      </p:sp>
      <p:sp>
        <p:nvSpPr>
          <p:cNvPr id="3" name="Content Placeholder 2"/>
          <p:cNvSpPr>
            <a:spLocks noGrp="1"/>
          </p:cNvSpPr>
          <p:nvPr>
            <p:ph idx="1"/>
          </p:nvPr>
        </p:nvSpPr>
        <p:spPr/>
        <p:txBody>
          <a:bodyPr>
            <a:normAutofit/>
          </a:bodyPr>
          <a:lstStyle/>
          <a:p>
            <a:r>
              <a:rPr lang="en-US" sz="2400" dirty="0"/>
              <a:t>Low power output
High initial cost
Depends on human movement
Mechanical wear and tear</a:t>
            </a:r>
            <a:endParaRPr sz="2400"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Real-World Examples</a:t>
            </a:r>
          </a:p>
        </p:txBody>
      </p:sp>
      <p:sp>
        <p:nvSpPr>
          <p:cNvPr id="3" name="Content Placeholder 2"/>
          <p:cNvSpPr>
            <a:spLocks noGrp="1"/>
          </p:cNvSpPr>
          <p:nvPr>
            <p:ph idx="1"/>
          </p:nvPr>
        </p:nvSpPr>
        <p:spPr>
          <a:xfrm>
            <a:off x="1539112" y="1956702"/>
            <a:ext cx="8919186" cy="3412296"/>
          </a:xfrm>
        </p:spPr>
        <p:txBody>
          <a:bodyPr>
            <a:noAutofit/>
          </a:bodyPr>
          <a:lstStyle/>
          <a:p>
            <a:pPr marL="0" indent="0">
              <a:buNone/>
            </a:pPr>
            <a:r>
              <a:rPr lang="en-US" b="1" dirty="0" err="1"/>
              <a:t>Pavegen</a:t>
            </a:r>
            <a:r>
              <a:rPr lang="en-US" b="1" dirty="0"/>
              <a:t> Smart Tiles (UK)</a:t>
            </a:r>
            <a:r>
              <a:rPr lang="en-US" dirty="0"/>
              <a:t>
--Installed in public places to generate electricity from footsteps
</a:t>
            </a:r>
            <a:r>
              <a:rPr lang="en-US" b="1" dirty="0"/>
              <a:t>London Underground (West Ham Station)</a:t>
            </a:r>
            <a:r>
              <a:rPr lang="en-US" dirty="0"/>
              <a:t>
--Uses footstep energy from daily commuters
</a:t>
            </a:r>
            <a:r>
              <a:rPr lang="en-US" b="1" dirty="0"/>
              <a:t>Airports (e.g., Heathrow Airport)</a:t>
            </a:r>
            <a:r>
              <a:rPr lang="en-US" dirty="0"/>
              <a:t>
--Installed in walkways to power lighting and displays
</a:t>
            </a:r>
            <a:r>
              <a:rPr lang="en-US" b="1" dirty="0"/>
              <a:t>Shopping Malls</a:t>
            </a:r>
            <a:r>
              <a:rPr lang="en-US" dirty="0"/>
              <a:t>
--Used in crowded areas for small power applications and interactive floors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3" name="Content Placeholder 2"/>
          <p:cNvSpPr>
            <a:spLocks noGrp="1"/>
          </p:cNvSpPr>
          <p:nvPr>
            <p:ph idx="1"/>
          </p:nvPr>
        </p:nvSpPr>
        <p:spPr/>
        <p:txBody>
          <a:bodyPr>
            <a:normAutofit/>
          </a:bodyPr>
          <a:lstStyle/>
          <a:p>
            <a:r>
              <a:rPr lang="en-US" sz="2400" dirty="0"/>
              <a:t>Footstep energy can be converted into electrical energy using piezoelectric sensors
The system is eco-friendly and uses renewable energy
Suitable for low-power applications like LEDs and sensors
Most effective in high footfall areas
Has potential for future use in smart city infrastructure</a:t>
            </a:r>
            <a:endParaRPr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0275408-960D-C2A6-90BB-984BEF89A75C}"/>
              </a:ext>
            </a:extLst>
          </p:cNvPr>
          <p:cNvSpPr>
            <a:spLocks noGrp="1"/>
          </p:cNvSpPr>
          <p:nvPr>
            <p:ph idx="4294967295"/>
          </p:nvPr>
        </p:nvSpPr>
        <p:spPr>
          <a:xfrm>
            <a:off x="2587625" y="2016125"/>
            <a:ext cx="9604375" cy="3449638"/>
          </a:xfrm>
        </p:spPr>
        <p:txBody>
          <a:bodyPr/>
          <a:lstStyle/>
          <a:p>
            <a:pPr marL="0" indent="0">
              <a:buNone/>
            </a:pPr>
            <a:r>
              <a:rPr lang="en-IN" b="1" dirty="0"/>
              <a:t>                 </a:t>
            </a:r>
          </a:p>
          <a:p>
            <a:pPr marL="0" indent="0">
              <a:buNone/>
            </a:pPr>
            <a:r>
              <a:rPr lang="en-IN" b="1" dirty="0"/>
              <a:t> </a:t>
            </a:r>
            <a:endParaRPr lang="en-US" b="1" dirty="0"/>
          </a:p>
        </p:txBody>
      </p:sp>
      <p:pic>
        <p:nvPicPr>
          <p:cNvPr id="2" name="Picture 1">
            <a:extLst>
              <a:ext uri="{FF2B5EF4-FFF2-40B4-BE49-F238E27FC236}">
                <a16:creationId xmlns:a16="http://schemas.microsoft.com/office/drawing/2014/main" id="{7AD5825B-CCCF-520B-1C3D-4B3A8D46C374}"/>
              </a:ext>
            </a:extLst>
          </p:cNvPr>
          <p:cNvPicPr>
            <a:picLocks noChangeAspect="1"/>
          </p:cNvPicPr>
          <p:nvPr/>
        </p:nvPicPr>
        <p:blipFill>
          <a:blip r:embed="rId2"/>
          <a:stretch>
            <a:fillRect/>
          </a:stretch>
        </p:blipFill>
        <p:spPr>
          <a:xfrm>
            <a:off x="446621" y="266284"/>
            <a:ext cx="11298758" cy="56515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2527539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Gallery</vt:lpstr>
      <vt:lpstr>PowerPoint Presentation</vt:lpstr>
      <vt:lpstr>CONTENTS</vt:lpstr>
      <vt:lpstr>Introduction</vt:lpstr>
      <vt:lpstr>Objectives</vt:lpstr>
      <vt:lpstr>Components</vt:lpstr>
      <vt:lpstr>Piezoelectric Sensor</vt:lpstr>
      <vt:lpstr>Piezoelectric Effect</vt:lpstr>
      <vt:lpstr>PIEZOELECTRIC EFFECT</vt:lpstr>
      <vt:lpstr>Working Principle</vt:lpstr>
      <vt:lpstr>Block Diagram </vt:lpstr>
      <vt:lpstr>Connection of Piezoelectric sensor </vt:lpstr>
      <vt:lpstr>Breadboard connection usinG</vt:lpstr>
      <vt:lpstr>BatterY</vt:lpstr>
      <vt:lpstr>Arduino UNO r3 SDM </vt:lpstr>
      <vt:lpstr>LCD Display </vt:lpstr>
      <vt:lpstr>FINAL OUTPUT</vt:lpstr>
      <vt:lpstr>Applications</vt:lpstr>
      <vt:lpstr>Advantages </vt:lpstr>
      <vt:lpstr>Disadvantages</vt:lpstr>
      <vt:lpstr>Real-World Examples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Kinetic Energy Harvesting from Human Footsteps Using Piezoelectric Sensor</dc:title>
  <dc:subject/>
  <dc:creator/>
  <cp:keywords/>
  <dc:description>generated using python-pptx</dc:description>
  <cp:lastModifiedBy>arunisac1051@gmail.com</cp:lastModifiedBy>
  <cp:revision>12</cp:revision>
  <dcterms:created xsi:type="dcterms:W3CDTF">2013-01-27T09:14:16Z</dcterms:created>
  <dcterms:modified xsi:type="dcterms:W3CDTF">2026-04-26T13:31:55Z</dcterms:modified>
  <cp:category/>
</cp:coreProperties>
</file>